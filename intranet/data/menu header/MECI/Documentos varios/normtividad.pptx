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"/>
  </p:notesMasterIdLst>
  <p:sldIdLst>
    <p:sldId id="257" r:id="rId2"/>
    <p:sldId id="256" r:id="rId3"/>
    <p:sldId id="260" r:id="rId4"/>
    <p:sldId id="261" r:id="rId5"/>
    <p:sldId id="262" r:id="rId6"/>
  </p:sldIdLst>
  <p:sldSz cx="9144000" cy="6858000" type="screen4x3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8" autoAdjust="0"/>
  </p:normalViewPr>
  <p:slideViewPr>
    <p:cSldViewPr>
      <p:cViewPr>
        <p:scale>
          <a:sx n="77" d="100"/>
          <a:sy n="77" d="100"/>
        </p:scale>
        <p:origin x="-1176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6684E8-AEFE-4873-9E0C-C01694EB27B8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C95001-249C-4654-8AEA-46AE9591F5A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85180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313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0343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5404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3864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74298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03564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0040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57169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14048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0376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15034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27065-745C-48FD-8549-83C7EC8868DF}" type="datetimeFigureOut">
              <a:rPr lang="es-CO" smtClean="0"/>
              <a:t>23/11/2014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1CD74-4C1E-4D32-84CA-167B0D4D169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63294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PRESENTACI&#211;N%20MECI%202014/DECRETO%201599.pptx" TargetMode="External"/><Relationship Id="rId3" Type="http://schemas.openxmlformats.org/officeDocument/2006/relationships/image" Target="../media/image1.png"/><Relationship Id="rId7" Type="http://schemas.openxmlformats.org/officeDocument/2006/relationships/hyperlink" Target="PRESENTACI&#211;N%20MECI%202014/CONT.%20POLT.%20269.pptx" TargetMode="External"/><Relationship Id="rId12" Type="http://schemas.openxmlformats.org/officeDocument/2006/relationships/hyperlink" Target="PRESENTACI&#211;N%20MECI%202014/DECRETO%20943.pptx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PRESENTACI&#211;N%20MECI%202014/CONT%20POLIT.209.pptx" TargetMode="External"/><Relationship Id="rId11" Type="http://schemas.openxmlformats.org/officeDocument/2006/relationships/image" Target="../media/image5.jpeg"/><Relationship Id="rId5" Type="http://schemas.openxmlformats.org/officeDocument/2006/relationships/hyperlink" Target="PRESENTACI&#211;N%20MECI%202014/LEY%2087.pptx" TargetMode="External"/><Relationship Id="rId10" Type="http://schemas.openxmlformats.org/officeDocument/2006/relationships/hyperlink" Target="PRESENTACI&#211;N%20MECI%202014/DECRETO%202145.pptx" TargetMode="External"/><Relationship Id="rId4" Type="http://schemas.openxmlformats.org/officeDocument/2006/relationships/image" Target="../media/image4.emf"/><Relationship Id="rId9" Type="http://schemas.openxmlformats.org/officeDocument/2006/relationships/hyperlink" Target="PRESENTACI&#211;N%20MECI%202014/DECRETO%201537.ppt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2 Grupo"/>
          <p:cNvGrpSpPr/>
          <p:nvPr/>
        </p:nvGrpSpPr>
        <p:grpSpPr>
          <a:xfrm>
            <a:off x="0" y="-27383"/>
            <a:ext cx="9144000" cy="6890701"/>
            <a:chOff x="0" y="-27383"/>
            <a:chExt cx="9144000" cy="6890701"/>
          </a:xfrm>
        </p:grpSpPr>
        <p:pic>
          <p:nvPicPr>
            <p:cNvPr id="8" name="Picture 4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4 CuadroTexto"/>
            <p:cNvSpPr txBox="1"/>
            <p:nvPr/>
          </p:nvSpPr>
          <p:spPr>
            <a:xfrm>
              <a:off x="0" y="6309320"/>
              <a:ext cx="914400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028" name="Picture 4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242234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1" t="6318" r="543" b="6768"/>
            <a:stretch/>
          </p:blipFill>
          <p:spPr bwMode="auto">
            <a:xfrm>
              <a:off x="0" y="2204864"/>
              <a:ext cx="9144000" cy="37031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1 Rectángulo"/>
            <p:cNvSpPr/>
            <p:nvPr/>
          </p:nvSpPr>
          <p:spPr>
            <a:xfrm>
              <a:off x="0" y="2204864"/>
              <a:ext cx="9134332" cy="3703170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10" name="9 CuadroTexto"/>
          <p:cNvSpPr txBox="1"/>
          <p:nvPr/>
        </p:nvSpPr>
        <p:spPr>
          <a:xfrm>
            <a:off x="892060" y="548680"/>
            <a:ext cx="735234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3600" b="1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rPr>
              <a:t>Seminario</a:t>
            </a:r>
          </a:p>
          <a:p>
            <a:pPr algn="ctr"/>
            <a:r>
              <a:rPr lang="es-CO" sz="3600" b="1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rPr>
              <a:t>Actualización </a:t>
            </a:r>
            <a:r>
              <a:rPr lang="es-CO" sz="3600" b="1" dirty="0" err="1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ras Medium ITC" panose="020B0602030504020804" pitchFamily="34" charset="0"/>
              </a:rPr>
              <a:t>MECI</a:t>
            </a:r>
            <a:r>
              <a:rPr lang="es-CO" sz="3600" b="1" dirty="0" smtClean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ras Medium ITC" panose="020B0602030504020804" pitchFamily="34" charset="0"/>
              </a:rPr>
              <a:t> - CAS 2014</a:t>
            </a:r>
          </a:p>
          <a:p>
            <a:pPr algn="ctr"/>
            <a:endParaRPr lang="es-CO" sz="3600" b="1" dirty="0" smtClean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ras Medium ITC" panose="020B0602030504020804" pitchFamily="34" charset="0"/>
            </a:endParaRPr>
          </a:p>
          <a:p>
            <a:pPr algn="ctr"/>
            <a:endParaRPr lang="es-CO" sz="4000" b="1" dirty="0" smtClean="0">
              <a:solidFill>
                <a:srgbClr val="00B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ras Medium ITC" panose="020B0602030504020804" pitchFamily="34" charset="0"/>
            </a:endParaRPr>
          </a:p>
          <a:p>
            <a:pPr algn="ctr"/>
            <a:r>
              <a:rPr lang="es-CO" sz="4000" dirty="0" smtClean="0">
                <a:latin typeface="Eras Medium ITC" panose="020B0602030504020804" pitchFamily="34" charset="0"/>
              </a:rPr>
              <a:t>ANALIZANDO LOS FACTORES CLAVES DE ÉXITO PARA LA GESTIÓN DE LA ENTIDAD</a:t>
            </a:r>
          </a:p>
          <a:p>
            <a:pPr algn="ctr"/>
            <a:endParaRPr lang="es-CO" dirty="0" smtClean="0">
              <a:latin typeface="Eras Medium ITC" panose="020B0602030504020804" pitchFamily="34" charset="0"/>
            </a:endParaRPr>
          </a:p>
          <a:p>
            <a:pPr algn="ctr"/>
            <a:endParaRPr lang="es-CO" dirty="0" smtClean="0">
              <a:latin typeface="Eras Medium ITC" panose="020B0602030504020804" pitchFamily="34" charset="0"/>
            </a:endParaRPr>
          </a:p>
          <a:p>
            <a:pPr algn="ctr"/>
            <a:r>
              <a:rPr lang="es-CO" sz="1600" dirty="0" smtClean="0">
                <a:latin typeface="Eras Medium ITC" panose="020B0602030504020804" pitchFamily="34" charset="0"/>
              </a:rPr>
              <a:t>NOVIEMBRE 24 , 2014</a:t>
            </a:r>
            <a:endParaRPr lang="es-CO" sz="1600" dirty="0">
              <a:latin typeface="Eras Medium ITC" panose="020B06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936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457637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1 Rectángulo"/>
            <p:cNvSpPr/>
            <p:nvPr/>
          </p:nvSpPr>
          <p:spPr>
            <a:xfrm>
              <a:off x="5530769" y="2204864"/>
              <a:ext cx="3599569" cy="4464496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3" name="Line 3"/>
          <p:cNvSpPr>
            <a:spLocks noChangeShapeType="1"/>
          </p:cNvSpPr>
          <p:nvPr/>
        </p:nvSpPr>
        <p:spPr bwMode="auto">
          <a:xfrm flipV="1">
            <a:off x="0" y="2169605"/>
            <a:ext cx="914400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CO" dirty="0"/>
          </a:p>
        </p:txBody>
      </p: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3414249" y="3203190"/>
            <a:ext cx="1047750" cy="531812"/>
            <a:chOff x="1440" y="960"/>
            <a:chExt cx="672" cy="522"/>
          </a:xfrm>
        </p:grpSpPr>
        <p:pic>
          <p:nvPicPr>
            <p:cNvPr id="19" name="Picture 11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" name="Oval 12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1" name="Oval 13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2" name="Oval 14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3" name="Oval 15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>
                  <a:latin typeface="Futura Std Medium" pitchFamily="34" charset="0"/>
                  <a:cs typeface="Calibri" pitchFamily="34" charset="0"/>
                </a:rPr>
                <a:t>1999</a:t>
              </a:r>
            </a:p>
          </p:txBody>
        </p:sp>
      </p:grpSp>
      <p:grpSp>
        <p:nvGrpSpPr>
          <p:cNvPr id="24" name="Group 27"/>
          <p:cNvGrpSpPr>
            <a:grpSpLocks/>
          </p:cNvGrpSpPr>
          <p:nvPr/>
        </p:nvGrpSpPr>
        <p:grpSpPr bwMode="auto">
          <a:xfrm>
            <a:off x="5946731" y="3214297"/>
            <a:ext cx="1069542" cy="531813"/>
            <a:chOff x="1440" y="960"/>
            <a:chExt cx="672" cy="522"/>
          </a:xfrm>
        </p:grpSpPr>
        <p:pic>
          <p:nvPicPr>
            <p:cNvPr id="25" name="Picture 28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Oval 29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7" name="Oval 30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8" name="Oval 31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9" name="Oval 32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>
                  <a:latin typeface="Futura Std Medium" pitchFamily="34" charset="0"/>
                  <a:cs typeface="Calibri" pitchFamily="34" charset="0"/>
                </a:rPr>
                <a:t>2005</a:t>
              </a:r>
            </a:p>
          </p:txBody>
        </p:sp>
      </p:grpSp>
      <p:grpSp>
        <p:nvGrpSpPr>
          <p:cNvPr id="30" name="Group 33"/>
          <p:cNvGrpSpPr>
            <a:grpSpLocks/>
          </p:cNvGrpSpPr>
          <p:nvPr/>
        </p:nvGrpSpPr>
        <p:grpSpPr bwMode="auto">
          <a:xfrm>
            <a:off x="1990356" y="3201671"/>
            <a:ext cx="1047750" cy="531813"/>
            <a:chOff x="1440" y="960"/>
            <a:chExt cx="672" cy="522"/>
          </a:xfrm>
        </p:grpSpPr>
        <p:pic>
          <p:nvPicPr>
            <p:cNvPr id="31" name="Picture 34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" name="Oval 35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3" name="Oval 36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4" name="Oval 37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5" name="Oval 38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 smtClean="0">
                  <a:latin typeface="Futura Std Medium" pitchFamily="34" charset="0"/>
                  <a:cs typeface="Calibri" pitchFamily="34" charset="0"/>
                </a:rPr>
                <a:t>1993</a:t>
              </a:r>
              <a:endParaRPr lang="es-ES" sz="1400" b="1" dirty="0">
                <a:latin typeface="Futura Std Medium" pitchFamily="34" charset="0"/>
                <a:cs typeface="Calibri" pitchFamily="34" charset="0"/>
              </a:endParaRPr>
            </a:p>
          </p:txBody>
        </p:sp>
      </p:grpSp>
      <p:grpSp>
        <p:nvGrpSpPr>
          <p:cNvPr id="36" name="Group 21"/>
          <p:cNvGrpSpPr>
            <a:grpSpLocks/>
          </p:cNvGrpSpPr>
          <p:nvPr/>
        </p:nvGrpSpPr>
        <p:grpSpPr bwMode="auto">
          <a:xfrm>
            <a:off x="7813170" y="3227641"/>
            <a:ext cx="1047750" cy="531813"/>
            <a:chOff x="1440" y="960"/>
            <a:chExt cx="672" cy="522"/>
          </a:xfrm>
        </p:grpSpPr>
        <p:pic>
          <p:nvPicPr>
            <p:cNvPr id="37" name="Picture 22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Oval 23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9" name="Oval 24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0" name="Oval 25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1" name="Oval 26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>
                  <a:latin typeface="Futura Std Medium" pitchFamily="34" charset="0"/>
                  <a:cs typeface="Calibri" pitchFamily="34" charset="0"/>
                </a:rPr>
                <a:t>2011</a:t>
              </a:r>
            </a:p>
          </p:txBody>
        </p:sp>
      </p:grpSp>
      <p:sp>
        <p:nvSpPr>
          <p:cNvPr id="42" name="Rectangle 54"/>
          <p:cNvSpPr>
            <a:spLocks noChangeArrowheads="1"/>
          </p:cNvSpPr>
          <p:nvPr/>
        </p:nvSpPr>
        <p:spPr bwMode="auto">
          <a:xfrm>
            <a:off x="2087194" y="3952659"/>
            <a:ext cx="854075" cy="32543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  <a:hlinkClick r:id="rId5" action="ppaction://hlinkpres?slideindex=1&amp;slidetitle="/>
              </a:rPr>
              <a:t>Ley  87</a:t>
            </a:r>
            <a:endParaRPr lang="es-ES" sz="1400" dirty="0">
              <a:latin typeface="Futura Std Medium" pitchFamily="34" charset="0"/>
              <a:cs typeface="Arial" panose="020B0604020202020204" pitchFamily="34" charset="0"/>
            </a:endParaRPr>
          </a:p>
        </p:txBody>
      </p:sp>
      <p:sp>
        <p:nvSpPr>
          <p:cNvPr id="43" name="Rectangle 54"/>
          <p:cNvSpPr>
            <a:spLocks noChangeArrowheads="1"/>
          </p:cNvSpPr>
          <p:nvPr/>
        </p:nvSpPr>
        <p:spPr bwMode="auto">
          <a:xfrm>
            <a:off x="7601527" y="2302236"/>
            <a:ext cx="1471036" cy="64293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</a:rPr>
              <a:t>Ley 1474</a:t>
            </a:r>
          </a:p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</a:rPr>
              <a:t>Nombramiento</a:t>
            </a:r>
          </a:p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</a:rPr>
              <a:t>JCI</a:t>
            </a:r>
          </a:p>
        </p:txBody>
      </p:sp>
      <p:grpSp>
        <p:nvGrpSpPr>
          <p:cNvPr id="44" name="Group 33"/>
          <p:cNvGrpSpPr>
            <a:grpSpLocks/>
          </p:cNvGrpSpPr>
          <p:nvPr/>
        </p:nvGrpSpPr>
        <p:grpSpPr bwMode="auto">
          <a:xfrm>
            <a:off x="718328" y="3214297"/>
            <a:ext cx="1047750" cy="531813"/>
            <a:chOff x="1440" y="960"/>
            <a:chExt cx="672" cy="522"/>
          </a:xfrm>
        </p:grpSpPr>
        <p:pic>
          <p:nvPicPr>
            <p:cNvPr id="45" name="Picture 34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" name="Oval 35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7" name="Oval 36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8" name="Oval 37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9" name="Oval 38"/>
            <p:cNvSpPr>
              <a:spLocks noChangeArrowheads="1"/>
            </p:cNvSpPr>
            <p:nvPr/>
          </p:nvSpPr>
          <p:spPr bwMode="gray">
            <a:xfrm>
              <a:off x="1606" y="1032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endParaRPr lang="es-ES" sz="1400" dirty="0">
                <a:latin typeface="Futura Std Medium" pitchFamily="34" charset="0"/>
                <a:cs typeface="Calibri" pitchFamily="34" charset="0"/>
              </a:endParaRPr>
            </a:p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>
                  <a:latin typeface="Futura Std Medium" pitchFamily="34" charset="0"/>
                  <a:cs typeface="Calibri" pitchFamily="34" charset="0"/>
                </a:rPr>
                <a:t>1991</a:t>
              </a:r>
            </a:p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endParaRPr lang="es-ES" sz="1400" dirty="0">
                <a:latin typeface="Futura Std Medium" pitchFamily="34" charset="0"/>
                <a:cs typeface="Calibri" pitchFamily="34" charset="0"/>
              </a:endParaRPr>
            </a:p>
          </p:txBody>
        </p:sp>
      </p:grpSp>
      <p:sp>
        <p:nvSpPr>
          <p:cNvPr id="50" name="Rectangle 54"/>
          <p:cNvSpPr>
            <a:spLocks noChangeArrowheads="1"/>
          </p:cNvSpPr>
          <p:nvPr/>
        </p:nvSpPr>
        <p:spPr bwMode="auto">
          <a:xfrm>
            <a:off x="765273" y="2302236"/>
            <a:ext cx="1025007" cy="5857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</a:rPr>
              <a:t>Constitución</a:t>
            </a:r>
          </a:p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  <a:hlinkClick r:id="rId6" action="ppaction://hlinkpres?slideindex=1&amp;slidetitle="/>
              </a:rPr>
              <a:t>209</a:t>
            </a:r>
            <a:r>
              <a:rPr lang="es-ES" sz="1400" dirty="0">
                <a:latin typeface="Futura Std Medium" pitchFamily="34" charset="0"/>
                <a:cs typeface="Arial" panose="020B0604020202020204" pitchFamily="34" charset="0"/>
              </a:rPr>
              <a:t> y </a:t>
            </a:r>
            <a:r>
              <a:rPr lang="es-ES" sz="1400" dirty="0">
                <a:latin typeface="Futura Std Medium" pitchFamily="34" charset="0"/>
                <a:cs typeface="Arial" panose="020B0604020202020204" pitchFamily="34" charset="0"/>
                <a:hlinkClick r:id="rId7" action="ppaction://hlinkpres?slideindex=1&amp;slidetitle="/>
              </a:rPr>
              <a:t>269</a:t>
            </a:r>
            <a:endParaRPr lang="es-ES" sz="1400" dirty="0">
              <a:latin typeface="Futura Std Medium" pitchFamily="34" charset="0"/>
              <a:cs typeface="Arial" panose="020B0604020202020204" pitchFamily="34" charset="0"/>
            </a:endParaRPr>
          </a:p>
        </p:txBody>
      </p:sp>
      <p:grpSp>
        <p:nvGrpSpPr>
          <p:cNvPr id="51" name="Group 27"/>
          <p:cNvGrpSpPr>
            <a:grpSpLocks/>
          </p:cNvGrpSpPr>
          <p:nvPr/>
        </p:nvGrpSpPr>
        <p:grpSpPr bwMode="auto">
          <a:xfrm>
            <a:off x="4484841" y="3225242"/>
            <a:ext cx="1047750" cy="530225"/>
            <a:chOff x="1440" y="960"/>
            <a:chExt cx="672" cy="522"/>
          </a:xfrm>
        </p:grpSpPr>
        <p:pic>
          <p:nvPicPr>
            <p:cNvPr id="52" name="Picture 28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3" name="Oval 29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54" name="Oval 30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55" name="Oval 31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56" name="Oval 32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>
                  <a:latin typeface="Futura Std Medium" pitchFamily="34" charset="0"/>
                  <a:cs typeface="Calibri" pitchFamily="34" charset="0"/>
                </a:rPr>
                <a:t>2001</a:t>
              </a:r>
            </a:p>
          </p:txBody>
        </p:sp>
      </p:grpSp>
      <p:sp>
        <p:nvSpPr>
          <p:cNvPr id="57" name="Line 77"/>
          <p:cNvSpPr>
            <a:spLocks noChangeShapeType="1"/>
          </p:cNvSpPr>
          <p:nvPr/>
        </p:nvSpPr>
        <p:spPr bwMode="auto">
          <a:xfrm>
            <a:off x="722313" y="2154455"/>
            <a:ext cx="14287" cy="4332864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8" name="Line 77"/>
          <p:cNvSpPr>
            <a:spLocks noChangeShapeType="1"/>
          </p:cNvSpPr>
          <p:nvPr/>
        </p:nvSpPr>
        <p:spPr bwMode="auto">
          <a:xfrm>
            <a:off x="1775085" y="2212471"/>
            <a:ext cx="39688" cy="4294188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9" name="Line 77"/>
          <p:cNvSpPr>
            <a:spLocks noChangeShapeType="1"/>
          </p:cNvSpPr>
          <p:nvPr/>
        </p:nvSpPr>
        <p:spPr bwMode="auto">
          <a:xfrm>
            <a:off x="4498975" y="2165855"/>
            <a:ext cx="28575" cy="4321464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0" name="Line 77"/>
          <p:cNvSpPr>
            <a:spLocks noChangeShapeType="1"/>
          </p:cNvSpPr>
          <p:nvPr/>
        </p:nvSpPr>
        <p:spPr bwMode="auto">
          <a:xfrm>
            <a:off x="5578758" y="2129939"/>
            <a:ext cx="14287" cy="4357380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61" name="60 Conector recto"/>
          <p:cNvCxnSpPr>
            <a:stCxn id="50" idx="2"/>
          </p:cNvCxnSpPr>
          <p:nvPr/>
        </p:nvCxnSpPr>
        <p:spPr>
          <a:xfrm>
            <a:off x="1277777" y="2888024"/>
            <a:ext cx="0" cy="233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61 Conector recto"/>
          <p:cNvCxnSpPr/>
          <p:nvPr/>
        </p:nvCxnSpPr>
        <p:spPr>
          <a:xfrm>
            <a:off x="2498535" y="3665725"/>
            <a:ext cx="1587" cy="225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62 Conector recto"/>
          <p:cNvCxnSpPr/>
          <p:nvPr/>
        </p:nvCxnSpPr>
        <p:spPr>
          <a:xfrm>
            <a:off x="8334706" y="3008329"/>
            <a:ext cx="0" cy="225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63 Conector recto"/>
          <p:cNvCxnSpPr/>
          <p:nvPr/>
        </p:nvCxnSpPr>
        <p:spPr>
          <a:xfrm>
            <a:off x="6531715" y="3656373"/>
            <a:ext cx="0" cy="2777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Line 77"/>
          <p:cNvSpPr>
            <a:spLocks noChangeShapeType="1"/>
          </p:cNvSpPr>
          <p:nvPr/>
        </p:nvSpPr>
        <p:spPr bwMode="auto">
          <a:xfrm>
            <a:off x="7462981" y="2212471"/>
            <a:ext cx="14287" cy="4274848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6" name="Line 77"/>
          <p:cNvSpPr>
            <a:spLocks noChangeShapeType="1"/>
          </p:cNvSpPr>
          <p:nvPr/>
        </p:nvSpPr>
        <p:spPr bwMode="auto">
          <a:xfrm>
            <a:off x="3361140" y="2165855"/>
            <a:ext cx="28575" cy="4321464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7" name="Rectangle 54"/>
          <p:cNvSpPr>
            <a:spLocks noChangeArrowheads="1"/>
          </p:cNvSpPr>
          <p:nvPr/>
        </p:nvSpPr>
        <p:spPr bwMode="auto">
          <a:xfrm>
            <a:off x="1833822" y="4552300"/>
            <a:ext cx="1541605" cy="1837748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Definición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Características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Campo de 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aplicación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Responsabilidad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Oficina de Control 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Interno.</a:t>
            </a:r>
          </a:p>
        </p:txBody>
      </p:sp>
      <p:sp>
        <p:nvSpPr>
          <p:cNvPr id="68" name="Rectangle 54"/>
          <p:cNvSpPr>
            <a:spLocks noChangeArrowheads="1"/>
          </p:cNvSpPr>
          <p:nvPr/>
        </p:nvSpPr>
        <p:spPr bwMode="auto">
          <a:xfrm>
            <a:off x="5809673" y="3952659"/>
            <a:ext cx="1468582" cy="43338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latin typeface="Futura Std Medium" pitchFamily="34" charset="0"/>
                <a:cs typeface="Arial" panose="020B0604020202020204" pitchFamily="34" charset="0"/>
              </a:rPr>
              <a:t>Decreto</a:t>
            </a:r>
            <a:r>
              <a:rPr lang="es-ES" sz="1400" dirty="0" smtClean="0">
                <a:solidFill>
                  <a:schemeClr val="bg1"/>
                </a:solidFill>
                <a:latin typeface="Futura Std Medium" pitchFamily="34" charset="0"/>
                <a:cs typeface="Arial" panose="020B0604020202020204" pitchFamily="34" charset="0"/>
              </a:rPr>
              <a:t> </a:t>
            </a:r>
            <a:r>
              <a:rPr lang="es-ES" sz="1400" dirty="0">
                <a:latin typeface="Futura Std Medium" pitchFamily="34" charset="0"/>
                <a:cs typeface="Arial" panose="020B0604020202020204" pitchFamily="34" charset="0"/>
                <a:hlinkClick r:id="rId8" action="ppaction://hlinkpres?slideindex=1&amp;slidetitle="/>
              </a:rPr>
              <a:t>1599</a:t>
            </a:r>
            <a:r>
              <a:rPr lang="es-ES" sz="1400" dirty="0">
                <a:solidFill>
                  <a:schemeClr val="bg1"/>
                </a:solidFill>
                <a:latin typeface="Futura Std Medium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9" name="Rectangle 54"/>
          <p:cNvSpPr>
            <a:spLocks noChangeArrowheads="1"/>
          </p:cNvSpPr>
          <p:nvPr/>
        </p:nvSpPr>
        <p:spPr bwMode="auto">
          <a:xfrm>
            <a:off x="4672644" y="2309849"/>
            <a:ext cx="781884" cy="5905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 smtClean="0">
                <a:latin typeface="Futura Std Medium" pitchFamily="34" charset="0"/>
                <a:cs typeface="Arial" panose="020B0604020202020204" pitchFamily="34" charset="0"/>
              </a:rPr>
              <a:t>Decreto</a:t>
            </a:r>
          </a:p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  <a:hlinkClick r:id="rId9" action="ppaction://hlinkpres?slideindex=1&amp;slidetitle="/>
              </a:rPr>
              <a:t>1</a:t>
            </a:r>
            <a:r>
              <a:rPr lang="es-ES" sz="1400" dirty="0" smtClean="0">
                <a:latin typeface="Futura Std Medium" pitchFamily="34" charset="0"/>
                <a:cs typeface="Arial" panose="020B0604020202020204" pitchFamily="34" charset="0"/>
                <a:hlinkClick r:id="rId9" action="ppaction://hlinkpres?slideindex=1&amp;slidetitle="/>
              </a:rPr>
              <a:t>537</a:t>
            </a:r>
            <a:endParaRPr lang="es-ES" sz="1400" dirty="0">
              <a:latin typeface="Futura Std Medium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69 Conector recto"/>
          <p:cNvCxnSpPr/>
          <p:nvPr/>
        </p:nvCxnSpPr>
        <p:spPr>
          <a:xfrm>
            <a:off x="5007936" y="2946460"/>
            <a:ext cx="3175" cy="269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54"/>
          <p:cNvSpPr>
            <a:spLocks noChangeArrowheads="1"/>
          </p:cNvSpPr>
          <p:nvPr/>
        </p:nvSpPr>
        <p:spPr bwMode="auto">
          <a:xfrm>
            <a:off x="3516977" y="2302236"/>
            <a:ext cx="865329" cy="60577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>
                <a:latin typeface="Futura Std Medium" pitchFamily="34" charset="0"/>
                <a:cs typeface="Arial" panose="020B0604020202020204" pitchFamily="34" charset="0"/>
              </a:rPr>
              <a:t>Decreto </a:t>
            </a:r>
            <a:endParaRPr lang="es-ES" sz="1400" dirty="0" smtClean="0">
              <a:latin typeface="Futura Std Medium" pitchFamily="34" charset="0"/>
              <a:cs typeface="Arial" panose="020B0604020202020204" pitchFamily="34" charset="0"/>
            </a:endParaRPr>
          </a:p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 smtClean="0">
                <a:latin typeface="Futura Std Medium" pitchFamily="34" charset="0"/>
                <a:cs typeface="Arial" panose="020B0604020202020204" pitchFamily="34" charset="0"/>
                <a:hlinkClick r:id="rId10" action="ppaction://hlinkpres?slideindex=1&amp;slidetitle="/>
              </a:rPr>
              <a:t>2145</a:t>
            </a:r>
            <a:endParaRPr lang="es-ES" sz="1400" dirty="0">
              <a:latin typeface="Futura Std Medium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54"/>
          <p:cNvSpPr>
            <a:spLocks noChangeArrowheads="1"/>
          </p:cNvSpPr>
          <p:nvPr/>
        </p:nvSpPr>
        <p:spPr bwMode="auto">
          <a:xfrm>
            <a:off x="5726544" y="4552301"/>
            <a:ext cx="1551711" cy="1371600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Adopta el Modelo 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Estándar de 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Control  Interno</a:t>
            </a:r>
          </a:p>
          <a:p>
            <a:pPr algn="just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MECI</a:t>
            </a:r>
            <a:endParaRPr lang="es-ES" sz="1400" dirty="0">
              <a:solidFill>
                <a:schemeClr val="tx1"/>
              </a:solidFill>
              <a:latin typeface="Futura Std Medium" pitchFamily="34" charset="0"/>
              <a:cs typeface="Arial" panose="020B0604020202020204" pitchFamily="34" charset="0"/>
            </a:endParaRPr>
          </a:p>
        </p:txBody>
      </p:sp>
      <p:sp>
        <p:nvSpPr>
          <p:cNvPr id="73" name="16 CuadroTexto"/>
          <p:cNvSpPr txBox="1">
            <a:spLocks noChangeArrowheads="1"/>
          </p:cNvSpPr>
          <p:nvPr/>
        </p:nvSpPr>
        <p:spPr bwMode="auto">
          <a:xfrm>
            <a:off x="1979712" y="764704"/>
            <a:ext cx="5089808" cy="459509"/>
          </a:xfrm>
          <a:prstGeom prst="round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>
            <a:lvl1pPr algn="ctr" eaLnBrk="0" hangingPunct="0">
              <a:lnSpc>
                <a:spcPct val="90000"/>
              </a:lnSpc>
              <a:defRPr sz="3600" b="1">
                <a:latin typeface="Calibri" pitchFamily="34" charset="0"/>
                <a:cs typeface="Arial" charset="0"/>
              </a:defRPr>
            </a:lvl1pPr>
            <a:lvl2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2pPr>
            <a:lvl3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3pPr>
            <a:lvl4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4pPr>
            <a:lvl5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s-CO" sz="1600" dirty="0" smtClean="0">
                <a:solidFill>
                  <a:srgbClr val="632B00"/>
                </a:solidFill>
                <a:latin typeface="Futura Std Medium" pitchFamily="34" charset="0"/>
              </a:rPr>
              <a:t>NORMATIVA DE CONTROL INTERNO</a:t>
            </a:r>
            <a:endParaRPr lang="es-CO" sz="1600" dirty="0">
              <a:solidFill>
                <a:srgbClr val="632B00"/>
              </a:solidFill>
              <a:latin typeface="Futura Std Medium" pitchFamily="34" charset="0"/>
            </a:endParaRPr>
          </a:p>
        </p:txBody>
      </p:sp>
      <p:cxnSp>
        <p:nvCxnSpPr>
          <p:cNvPr id="74" name="73 Conector recto"/>
          <p:cNvCxnSpPr/>
          <p:nvPr/>
        </p:nvCxnSpPr>
        <p:spPr>
          <a:xfrm>
            <a:off x="3893820" y="2973126"/>
            <a:ext cx="1587" cy="225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54"/>
          <p:cNvSpPr>
            <a:spLocks noChangeArrowheads="1"/>
          </p:cNvSpPr>
          <p:nvPr/>
        </p:nvSpPr>
        <p:spPr bwMode="auto">
          <a:xfrm>
            <a:off x="3503120" y="4552300"/>
            <a:ext cx="865329" cy="918874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algn="ctr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Estructura  </a:t>
            </a:r>
          </a:p>
          <a:p>
            <a:pPr algn="ctr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S.C.I.</a:t>
            </a:r>
            <a:endParaRPr lang="es-ES" sz="1400" dirty="0">
              <a:solidFill>
                <a:schemeClr val="tx1"/>
              </a:solidFill>
              <a:latin typeface="Futura Std Medium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54"/>
          <p:cNvSpPr>
            <a:spLocks noChangeArrowheads="1"/>
          </p:cNvSpPr>
          <p:nvPr/>
        </p:nvSpPr>
        <p:spPr bwMode="auto">
          <a:xfrm>
            <a:off x="4631455" y="4552300"/>
            <a:ext cx="865329" cy="918874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algn="ctr" eaLnBrk="0" hangingPunct="0">
              <a:lnSpc>
                <a:spcPct val="80000"/>
              </a:lnSpc>
              <a:spcBef>
                <a:spcPct val="20000"/>
              </a:spcBef>
              <a:defRPr/>
            </a:pPr>
            <a:r>
              <a:rPr lang="es-ES" sz="1400" dirty="0" smtClean="0">
                <a:solidFill>
                  <a:schemeClr val="tx1"/>
                </a:solidFill>
                <a:latin typeface="Futura Std Medium" pitchFamily="34" charset="0"/>
                <a:cs typeface="Arial" panose="020B0604020202020204" pitchFamily="34" charset="0"/>
              </a:rPr>
              <a:t>Riesgos</a:t>
            </a:r>
            <a:endParaRPr lang="es-ES" sz="1400" dirty="0">
              <a:solidFill>
                <a:schemeClr val="tx1"/>
              </a:solidFill>
              <a:latin typeface="Futura Std Medium" pitchFamily="34" charset="0"/>
              <a:cs typeface="Arial" panose="020B0604020202020204" pitchFamily="34" charset="0"/>
            </a:endParaRPr>
          </a:p>
        </p:txBody>
      </p:sp>
      <p:pic>
        <p:nvPicPr>
          <p:cNvPr id="77" name="Picture 2" descr="https://encrypted-tbn3.gstatic.com/images?q=tbn:ANd9GcSy5VEqUmRq4o063rjQUsV51hkYeU4esavkBYxpOFpbsnOVaR59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384" y="4169352"/>
            <a:ext cx="1277777" cy="95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21"/>
          <p:cNvGrpSpPr>
            <a:grpSpLocks/>
          </p:cNvGrpSpPr>
          <p:nvPr/>
        </p:nvGrpSpPr>
        <p:grpSpPr bwMode="auto">
          <a:xfrm>
            <a:off x="7805916" y="4874983"/>
            <a:ext cx="1047750" cy="531813"/>
            <a:chOff x="1440" y="960"/>
            <a:chExt cx="672" cy="522"/>
          </a:xfrm>
        </p:grpSpPr>
        <p:pic>
          <p:nvPicPr>
            <p:cNvPr id="79" name="Picture 22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0" name="Oval 23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chemeClr val="bg1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81" name="Oval 24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chemeClr val="bg1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82" name="Oval 25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chemeClr val="bg1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83" name="Oval 26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 eaLnBrk="0" hangingPunct="0">
                <a:lnSpc>
                  <a:spcPct val="80000"/>
                </a:lnSpc>
                <a:spcBef>
                  <a:spcPct val="20000"/>
                </a:spcBef>
              </a:pPr>
              <a:r>
                <a:rPr lang="es-ES" sz="1400" b="1" dirty="0" smtClean="0">
                  <a:latin typeface="Futura Std Medium" pitchFamily="34" charset="0"/>
                  <a:cs typeface="Calibri" pitchFamily="34" charset="0"/>
                </a:rPr>
                <a:t>2014</a:t>
              </a:r>
              <a:endParaRPr lang="es-ES" sz="1400" b="1" dirty="0">
                <a:latin typeface="Futura Std Medium" pitchFamily="34" charset="0"/>
                <a:cs typeface="Calibri" pitchFamily="34" charset="0"/>
              </a:endParaRPr>
            </a:p>
          </p:txBody>
        </p:sp>
      </p:grpSp>
      <p:sp>
        <p:nvSpPr>
          <p:cNvPr id="84" name="Rectangle 54"/>
          <p:cNvSpPr>
            <a:spLocks noChangeArrowheads="1"/>
          </p:cNvSpPr>
          <p:nvPr/>
        </p:nvSpPr>
        <p:spPr bwMode="auto">
          <a:xfrm>
            <a:off x="7594273" y="3949578"/>
            <a:ext cx="1471036" cy="64293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 eaLnBrk="0" hangingPunct="0">
              <a:lnSpc>
                <a:spcPct val="80000"/>
              </a:lnSpc>
              <a:spcBef>
                <a:spcPct val="20000"/>
              </a:spcBef>
            </a:pPr>
            <a:r>
              <a:rPr lang="es-ES" sz="1400" dirty="0" smtClean="0">
                <a:latin typeface="Futura Std Medium" pitchFamily="34" charset="0"/>
                <a:cs typeface="Arial" panose="020B0604020202020204" pitchFamily="34" charset="0"/>
              </a:rPr>
              <a:t>Decreto </a:t>
            </a:r>
            <a:r>
              <a:rPr lang="es-ES" sz="1400" dirty="0" smtClean="0">
                <a:latin typeface="Futura Std Medium" pitchFamily="34" charset="0"/>
                <a:cs typeface="Arial" panose="020B0604020202020204" pitchFamily="34" charset="0"/>
                <a:hlinkClick r:id="rId12" action="ppaction://hlinkpres?slideindex=1&amp;slidetitle="/>
              </a:rPr>
              <a:t>943</a:t>
            </a:r>
            <a:endParaRPr lang="es-ES" sz="1400" dirty="0">
              <a:latin typeface="Futura Std Medium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84 Conector recto"/>
          <p:cNvCxnSpPr/>
          <p:nvPr/>
        </p:nvCxnSpPr>
        <p:spPr>
          <a:xfrm>
            <a:off x="8327452" y="4655671"/>
            <a:ext cx="0" cy="225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9944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50" grpId="0" animBg="1"/>
      <p:bldP spid="67" grpId="0" animBg="1"/>
      <p:bldP spid="68" grpId="0" animBg="1"/>
      <p:bldP spid="69" grpId="0" animBg="1"/>
      <p:bldP spid="71" grpId="0" animBg="1"/>
      <p:bldP spid="72" grpId="0" animBg="1"/>
      <p:bldP spid="75" grpId="0" animBg="1"/>
      <p:bldP spid="76" grpId="0" animBg="1"/>
      <p:bldP spid="8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776450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4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" name="1 Rectángulo"/>
            <p:cNvSpPr/>
            <p:nvPr/>
          </p:nvSpPr>
          <p:spPr>
            <a:xfrm>
              <a:off x="5530769" y="2204864"/>
              <a:ext cx="3599569" cy="4464496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" name="Line 3"/>
          <p:cNvSpPr>
            <a:spLocks noChangeShapeType="1"/>
          </p:cNvSpPr>
          <p:nvPr/>
        </p:nvSpPr>
        <p:spPr bwMode="auto">
          <a:xfrm flipV="1">
            <a:off x="0" y="2176621"/>
            <a:ext cx="9144000" cy="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s-CO" dirty="0"/>
          </a:p>
        </p:txBody>
      </p:sp>
      <p:grpSp>
        <p:nvGrpSpPr>
          <p:cNvPr id="13" name="Group 10"/>
          <p:cNvGrpSpPr>
            <a:grpSpLocks/>
          </p:cNvGrpSpPr>
          <p:nvPr/>
        </p:nvGrpSpPr>
        <p:grpSpPr bwMode="auto">
          <a:xfrm>
            <a:off x="2835509" y="3552847"/>
            <a:ext cx="1047750" cy="531813"/>
            <a:chOff x="1440" y="960"/>
            <a:chExt cx="672" cy="522"/>
          </a:xfrm>
        </p:grpSpPr>
        <p:pic>
          <p:nvPicPr>
            <p:cNvPr id="14" name="Picture 11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" name="Oval 12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0" name="Oval 13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1" name="Oval 14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2" name="Oval 15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>
                <a:lnSpc>
                  <a:spcPct val="80000"/>
                </a:lnSpc>
              </a:pPr>
              <a:r>
                <a:rPr lang="es-ES" sz="1400" b="1" dirty="0">
                  <a:solidFill>
                    <a:srgbClr val="3D404C"/>
                  </a:solidFill>
                  <a:latin typeface="Futura Std Medium" pitchFamily="34" charset="0"/>
                  <a:cs typeface="Calibri" pitchFamily="34" charset="0"/>
                </a:rPr>
                <a:t>2004</a:t>
              </a:r>
            </a:p>
          </p:txBody>
        </p:sp>
      </p:grpSp>
      <p:grpSp>
        <p:nvGrpSpPr>
          <p:cNvPr id="23" name="Group 33"/>
          <p:cNvGrpSpPr>
            <a:grpSpLocks/>
          </p:cNvGrpSpPr>
          <p:nvPr/>
        </p:nvGrpSpPr>
        <p:grpSpPr bwMode="auto">
          <a:xfrm>
            <a:off x="1580942" y="3547848"/>
            <a:ext cx="1047750" cy="531813"/>
            <a:chOff x="1440" y="960"/>
            <a:chExt cx="672" cy="522"/>
          </a:xfrm>
        </p:grpSpPr>
        <p:pic>
          <p:nvPicPr>
            <p:cNvPr id="24" name="Picture 34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" name="Oval 35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6" name="Oval 36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7" name="Oval 37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28" name="Oval 38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>
                <a:lnSpc>
                  <a:spcPct val="80000"/>
                </a:lnSpc>
              </a:pPr>
              <a:r>
                <a:rPr lang="es-ES" sz="1400" b="1" dirty="0">
                  <a:solidFill>
                    <a:srgbClr val="3D404C"/>
                  </a:solidFill>
                  <a:latin typeface="Futura Std Medium" pitchFamily="34" charset="0"/>
                  <a:cs typeface="Calibri" pitchFamily="34" charset="0"/>
                </a:rPr>
                <a:t>2003</a:t>
              </a:r>
            </a:p>
          </p:txBody>
        </p:sp>
      </p:grpSp>
      <p:grpSp>
        <p:nvGrpSpPr>
          <p:cNvPr id="29" name="Group 21"/>
          <p:cNvGrpSpPr>
            <a:grpSpLocks/>
          </p:cNvGrpSpPr>
          <p:nvPr/>
        </p:nvGrpSpPr>
        <p:grpSpPr bwMode="auto">
          <a:xfrm>
            <a:off x="7192567" y="3530981"/>
            <a:ext cx="1047750" cy="531812"/>
            <a:chOff x="1440" y="960"/>
            <a:chExt cx="672" cy="522"/>
          </a:xfrm>
        </p:grpSpPr>
        <p:pic>
          <p:nvPicPr>
            <p:cNvPr id="30" name="Picture 22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" name="Oval 23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2" name="Oval 24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3" name="Oval 25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4" name="Oval 26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>
                <a:lnSpc>
                  <a:spcPct val="80000"/>
                </a:lnSpc>
              </a:pPr>
              <a:r>
                <a:rPr lang="es-ES" sz="1400" b="1" dirty="0">
                  <a:solidFill>
                    <a:srgbClr val="3D404C"/>
                  </a:solidFill>
                  <a:latin typeface="Futura Std Medium" pitchFamily="34" charset="0"/>
                  <a:cs typeface="Calibri" pitchFamily="34" charset="0"/>
                </a:rPr>
                <a:t>2009</a:t>
              </a:r>
            </a:p>
          </p:txBody>
        </p:sp>
      </p:grpSp>
      <p:sp>
        <p:nvSpPr>
          <p:cNvPr id="35" name="Rectangle 54"/>
          <p:cNvSpPr>
            <a:spLocks noChangeArrowheads="1"/>
          </p:cNvSpPr>
          <p:nvPr/>
        </p:nvSpPr>
        <p:spPr bwMode="auto">
          <a:xfrm>
            <a:off x="1630529" y="2558987"/>
            <a:ext cx="948577" cy="5397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>
              <a:lnSpc>
                <a:spcPct val="80000"/>
              </a:lnSpc>
            </a:pPr>
            <a:r>
              <a:rPr lang="es-ES" sz="1400" b="1" dirty="0" smtClean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Ley 872</a:t>
            </a:r>
            <a:endParaRPr lang="es-ES" sz="1400" b="1" dirty="0">
              <a:solidFill>
                <a:srgbClr val="3D404C"/>
              </a:solidFill>
              <a:latin typeface="Futura Std Medium" pitchFamily="34" charset="0"/>
              <a:cs typeface="Calibri" pitchFamily="34" charset="0"/>
            </a:endParaRPr>
          </a:p>
        </p:txBody>
      </p:sp>
      <p:grpSp>
        <p:nvGrpSpPr>
          <p:cNvPr id="36" name="Group 33"/>
          <p:cNvGrpSpPr>
            <a:grpSpLocks/>
          </p:cNvGrpSpPr>
          <p:nvPr/>
        </p:nvGrpSpPr>
        <p:grpSpPr bwMode="auto">
          <a:xfrm>
            <a:off x="212574" y="3478548"/>
            <a:ext cx="1047750" cy="585787"/>
            <a:chOff x="1440" y="906"/>
            <a:chExt cx="672" cy="576"/>
          </a:xfrm>
        </p:grpSpPr>
        <p:pic>
          <p:nvPicPr>
            <p:cNvPr id="37" name="Picture 34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8" name="Oval 35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39" name="Oval 36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0" name="Oval 37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1" name="Oval 38"/>
            <p:cNvSpPr>
              <a:spLocks noChangeArrowheads="1"/>
            </p:cNvSpPr>
            <p:nvPr/>
          </p:nvSpPr>
          <p:spPr bwMode="gray">
            <a:xfrm>
              <a:off x="1598" y="906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>
                <a:lnSpc>
                  <a:spcPct val="80000"/>
                </a:lnSpc>
              </a:pPr>
              <a:endParaRPr lang="es-ES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  <a:p>
              <a:pPr marL="609600" indent="-609600" algn="ctr">
                <a:lnSpc>
                  <a:spcPct val="80000"/>
                </a:lnSpc>
              </a:pPr>
              <a:r>
                <a:rPr lang="es-ES" sz="1400" b="1" dirty="0">
                  <a:solidFill>
                    <a:srgbClr val="3D404C"/>
                  </a:solidFill>
                  <a:latin typeface="Futura Std Medium" pitchFamily="34" charset="0"/>
                  <a:cs typeface="Calibri" pitchFamily="34" charset="0"/>
                </a:rPr>
                <a:t>1991</a:t>
              </a:r>
            </a:p>
          </p:txBody>
        </p:sp>
      </p:grpSp>
      <p:sp>
        <p:nvSpPr>
          <p:cNvPr id="42" name="Rectangle 54"/>
          <p:cNvSpPr>
            <a:spLocks noChangeArrowheads="1"/>
          </p:cNvSpPr>
          <p:nvPr/>
        </p:nvSpPr>
        <p:spPr bwMode="auto">
          <a:xfrm>
            <a:off x="256162" y="2555735"/>
            <a:ext cx="1088740" cy="5397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>
              <a:lnSpc>
                <a:spcPct val="80000"/>
              </a:lnSpc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Constitución</a:t>
            </a:r>
          </a:p>
          <a:p>
            <a:pPr marL="609600" indent="-609600" algn="ctr">
              <a:lnSpc>
                <a:spcPct val="80000"/>
              </a:lnSpc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Política</a:t>
            </a:r>
          </a:p>
        </p:txBody>
      </p:sp>
      <p:sp>
        <p:nvSpPr>
          <p:cNvPr id="43" name="Rectangle 54"/>
          <p:cNvSpPr>
            <a:spLocks noChangeArrowheads="1"/>
          </p:cNvSpPr>
          <p:nvPr/>
        </p:nvSpPr>
        <p:spPr bwMode="auto">
          <a:xfrm>
            <a:off x="2938853" y="2558987"/>
            <a:ext cx="944406" cy="55086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Decreto </a:t>
            </a:r>
          </a:p>
          <a:p>
            <a:pPr marL="609600" indent="-609600" algn="ctr">
              <a:lnSpc>
                <a:spcPct val="80000"/>
              </a:lnSpc>
              <a:defRPr/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4110</a:t>
            </a:r>
          </a:p>
        </p:txBody>
      </p:sp>
      <p:grpSp>
        <p:nvGrpSpPr>
          <p:cNvPr id="44" name="Group 27"/>
          <p:cNvGrpSpPr>
            <a:grpSpLocks/>
          </p:cNvGrpSpPr>
          <p:nvPr/>
        </p:nvGrpSpPr>
        <p:grpSpPr bwMode="auto">
          <a:xfrm>
            <a:off x="5024259" y="3527013"/>
            <a:ext cx="1047750" cy="530225"/>
            <a:chOff x="1440" y="960"/>
            <a:chExt cx="672" cy="522"/>
          </a:xfrm>
        </p:grpSpPr>
        <p:pic>
          <p:nvPicPr>
            <p:cNvPr id="45" name="Picture 28" descr="Picture1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0" y="1296"/>
              <a:ext cx="672" cy="1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6" name="Oval 29"/>
            <p:cNvSpPr>
              <a:spLocks noChangeArrowheads="1"/>
            </p:cNvSpPr>
            <p:nvPr/>
          </p:nvSpPr>
          <p:spPr bwMode="gray">
            <a:xfrm>
              <a:off x="1565" y="960"/>
              <a:ext cx="430" cy="430"/>
            </a:xfrm>
            <a:prstGeom prst="ellipse">
              <a:avLst/>
            </a:prstGeom>
            <a:gradFill rotWithShape="1">
              <a:gsLst>
                <a:gs pos="0">
                  <a:srgbClr val="636869"/>
                </a:gs>
                <a:gs pos="100000">
                  <a:srgbClr val="D6E1E2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7" name="Oval 30"/>
            <p:cNvSpPr>
              <a:spLocks noChangeArrowheads="1"/>
            </p:cNvSpPr>
            <p:nvPr/>
          </p:nvSpPr>
          <p:spPr bwMode="gray">
            <a:xfrm>
              <a:off x="1571" y="962"/>
              <a:ext cx="419" cy="420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F1F5F5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8" name="Oval 31"/>
            <p:cNvSpPr>
              <a:spLocks noChangeArrowheads="1"/>
            </p:cNvSpPr>
            <p:nvPr/>
          </p:nvSpPr>
          <p:spPr bwMode="gray">
            <a:xfrm>
              <a:off x="1575" y="966"/>
              <a:ext cx="399" cy="392"/>
            </a:xfrm>
            <a:prstGeom prst="ellipse">
              <a:avLst/>
            </a:prstGeom>
            <a:gradFill rotWithShape="1">
              <a:gsLst>
                <a:gs pos="0">
                  <a:srgbClr val="AAB2B3"/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es-CO" sz="1400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endParaRPr>
            </a:p>
          </p:txBody>
        </p:sp>
        <p:sp>
          <p:nvSpPr>
            <p:cNvPr id="49" name="Oval 32"/>
            <p:cNvSpPr>
              <a:spLocks noChangeArrowheads="1"/>
            </p:cNvSpPr>
            <p:nvPr/>
          </p:nvSpPr>
          <p:spPr bwMode="gray">
            <a:xfrm>
              <a:off x="1598" y="978"/>
              <a:ext cx="355" cy="317"/>
            </a:xfrm>
            <a:prstGeom prst="ellipse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D6E1E2">
                    <a:alpha val="37999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609600" indent="-609600" algn="ctr">
                <a:lnSpc>
                  <a:spcPct val="80000"/>
                </a:lnSpc>
              </a:pPr>
              <a:r>
                <a:rPr lang="es-ES" sz="1400" b="1" dirty="0">
                  <a:solidFill>
                    <a:srgbClr val="3D404C"/>
                  </a:solidFill>
                  <a:latin typeface="Futura Std Medium" pitchFamily="34" charset="0"/>
                  <a:cs typeface="Calibri" pitchFamily="34" charset="0"/>
                </a:rPr>
                <a:t>2007</a:t>
              </a:r>
            </a:p>
          </p:txBody>
        </p:sp>
      </p:grpSp>
      <p:sp>
        <p:nvSpPr>
          <p:cNvPr id="50" name="Line 77"/>
          <p:cNvSpPr>
            <a:spLocks noChangeShapeType="1"/>
          </p:cNvSpPr>
          <p:nvPr/>
        </p:nvSpPr>
        <p:spPr bwMode="auto">
          <a:xfrm>
            <a:off x="1449534" y="2136535"/>
            <a:ext cx="14287" cy="4697307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1" name="Line 77"/>
          <p:cNvSpPr>
            <a:spLocks noChangeShapeType="1"/>
          </p:cNvSpPr>
          <p:nvPr/>
        </p:nvSpPr>
        <p:spPr bwMode="auto">
          <a:xfrm>
            <a:off x="4107385" y="2176620"/>
            <a:ext cx="28575" cy="4657222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2" name="Line 77"/>
          <p:cNvSpPr>
            <a:spLocks noChangeShapeType="1"/>
          </p:cNvSpPr>
          <p:nvPr/>
        </p:nvSpPr>
        <p:spPr bwMode="auto">
          <a:xfrm>
            <a:off x="6476669" y="2176620"/>
            <a:ext cx="28575" cy="4657222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53" name="52 Conector recto"/>
          <p:cNvCxnSpPr/>
          <p:nvPr/>
        </p:nvCxnSpPr>
        <p:spPr>
          <a:xfrm>
            <a:off x="734110" y="3109849"/>
            <a:ext cx="10838" cy="3994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53 Conector recto"/>
          <p:cNvCxnSpPr/>
          <p:nvPr/>
        </p:nvCxnSpPr>
        <p:spPr>
          <a:xfrm flipH="1">
            <a:off x="3348492" y="3152839"/>
            <a:ext cx="779" cy="4074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Line 77"/>
          <p:cNvSpPr>
            <a:spLocks noChangeShapeType="1"/>
          </p:cNvSpPr>
          <p:nvPr/>
        </p:nvSpPr>
        <p:spPr bwMode="auto">
          <a:xfrm>
            <a:off x="7411893" y="2176620"/>
            <a:ext cx="14288" cy="4657222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6" name="Line 77"/>
          <p:cNvSpPr>
            <a:spLocks noChangeShapeType="1"/>
          </p:cNvSpPr>
          <p:nvPr/>
        </p:nvSpPr>
        <p:spPr bwMode="auto">
          <a:xfrm>
            <a:off x="2763235" y="2176620"/>
            <a:ext cx="14287" cy="4657222"/>
          </a:xfrm>
          <a:prstGeom prst="line">
            <a:avLst/>
          </a:prstGeom>
          <a:noFill/>
          <a:ln w="15875" cap="rnd" cmpd="sng">
            <a:solidFill>
              <a:schemeClr val="accent2">
                <a:lumMod val="50000"/>
              </a:schemeClr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s-CO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7" name="Rectangle 54"/>
          <p:cNvSpPr>
            <a:spLocks noChangeArrowheads="1"/>
          </p:cNvSpPr>
          <p:nvPr/>
        </p:nvSpPr>
        <p:spPr bwMode="auto">
          <a:xfrm>
            <a:off x="7192567" y="2544622"/>
            <a:ext cx="1047750" cy="55086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>
              <a:lnSpc>
                <a:spcPct val="80000"/>
              </a:lnSpc>
              <a:defRPr/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Decreto </a:t>
            </a:r>
          </a:p>
          <a:p>
            <a:pPr marL="609600" indent="-609600" algn="ctr">
              <a:lnSpc>
                <a:spcPct val="80000"/>
              </a:lnSpc>
              <a:defRPr/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4485</a:t>
            </a:r>
          </a:p>
        </p:txBody>
      </p:sp>
      <p:cxnSp>
        <p:nvCxnSpPr>
          <p:cNvPr id="58" name="57 Conector recto"/>
          <p:cNvCxnSpPr>
            <a:stCxn id="59" idx="2"/>
            <a:endCxn id="46" idx="0"/>
          </p:cNvCxnSpPr>
          <p:nvPr/>
        </p:nvCxnSpPr>
        <p:spPr>
          <a:xfrm>
            <a:off x="5541898" y="3095485"/>
            <a:ext cx="12473" cy="43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 54"/>
          <p:cNvSpPr>
            <a:spLocks noChangeArrowheads="1"/>
          </p:cNvSpPr>
          <p:nvPr/>
        </p:nvSpPr>
        <p:spPr bwMode="auto">
          <a:xfrm>
            <a:off x="5099493" y="2544623"/>
            <a:ext cx="884810" cy="55086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marL="609600" indent="-609600" algn="ctr">
              <a:lnSpc>
                <a:spcPct val="80000"/>
              </a:lnSpc>
              <a:defRPr/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Decreto </a:t>
            </a:r>
          </a:p>
          <a:p>
            <a:pPr marL="609600" indent="-609600" algn="ctr">
              <a:lnSpc>
                <a:spcPct val="80000"/>
              </a:lnSpc>
              <a:defRPr/>
            </a:pPr>
            <a:r>
              <a:rPr lang="es-ES" sz="1400" b="1" dirty="0">
                <a:solidFill>
                  <a:srgbClr val="3D404C"/>
                </a:solidFill>
                <a:latin typeface="Futura Std Medium" pitchFamily="34" charset="0"/>
                <a:cs typeface="Calibri" pitchFamily="34" charset="0"/>
              </a:rPr>
              <a:t>2913 </a:t>
            </a:r>
          </a:p>
        </p:txBody>
      </p:sp>
      <p:cxnSp>
        <p:nvCxnSpPr>
          <p:cNvPr id="60" name="59 Conector recto"/>
          <p:cNvCxnSpPr>
            <a:endCxn id="31" idx="0"/>
          </p:cNvCxnSpPr>
          <p:nvPr/>
        </p:nvCxnSpPr>
        <p:spPr>
          <a:xfrm flipH="1">
            <a:off x="7722679" y="3117549"/>
            <a:ext cx="4690" cy="413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54"/>
          <p:cNvSpPr>
            <a:spLocks noChangeArrowheads="1"/>
          </p:cNvSpPr>
          <p:nvPr/>
        </p:nvSpPr>
        <p:spPr bwMode="auto">
          <a:xfrm>
            <a:off x="2733910" y="4228675"/>
            <a:ext cx="1446205" cy="1284365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Norma </a:t>
            </a: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Técnica</a:t>
            </a:r>
            <a:endParaRPr lang="es-ES" sz="1400" b="1" dirty="0">
              <a:solidFill>
                <a:schemeClr val="tx1"/>
              </a:solidFill>
              <a:latin typeface="Futura Std Medium" pitchFamily="34" charset="0"/>
              <a:cs typeface="Calibri" pitchFamily="34" charset="0"/>
            </a:endParaRP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NTCGP</a:t>
            </a: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1000:2004</a:t>
            </a:r>
            <a:endParaRPr lang="es-ES" sz="1400" b="1" dirty="0">
              <a:solidFill>
                <a:schemeClr val="tx1"/>
              </a:solidFill>
              <a:latin typeface="Futura Std Medium" pitchFamily="34" charset="0"/>
              <a:cs typeface="Calibri" pitchFamily="34" charset="0"/>
            </a:endParaRPr>
          </a:p>
        </p:txBody>
      </p:sp>
      <p:sp>
        <p:nvSpPr>
          <p:cNvPr id="62" name="Rectangle 54"/>
          <p:cNvSpPr>
            <a:spLocks noChangeArrowheads="1"/>
          </p:cNvSpPr>
          <p:nvPr/>
        </p:nvSpPr>
        <p:spPr bwMode="auto">
          <a:xfrm>
            <a:off x="5023015" y="4240507"/>
            <a:ext cx="1305409" cy="1002943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Guía </a:t>
            </a:r>
            <a:endParaRPr lang="es-ES" sz="1400" b="1" dirty="0" smtClean="0">
              <a:solidFill>
                <a:schemeClr val="tx1"/>
              </a:solidFill>
              <a:latin typeface="Futura Std Medium" pitchFamily="34" charset="0"/>
              <a:cs typeface="Calibri" pitchFamily="34" charset="0"/>
            </a:endParaRP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Armonización</a:t>
            </a:r>
            <a:endParaRPr lang="es-ES" sz="1400" b="1" dirty="0">
              <a:solidFill>
                <a:schemeClr val="tx1"/>
              </a:solidFill>
              <a:latin typeface="Futura Std Medium" pitchFamily="34" charset="0"/>
              <a:cs typeface="Calibri" pitchFamily="34" charset="0"/>
            </a:endParaRP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MECI-Calidad</a:t>
            </a:r>
          </a:p>
        </p:txBody>
      </p:sp>
      <p:sp>
        <p:nvSpPr>
          <p:cNvPr id="63" name="16 CuadroTexto"/>
          <p:cNvSpPr txBox="1">
            <a:spLocks noChangeArrowheads="1"/>
          </p:cNvSpPr>
          <p:nvPr/>
        </p:nvSpPr>
        <p:spPr bwMode="auto">
          <a:xfrm>
            <a:off x="2230738" y="893492"/>
            <a:ext cx="5089808" cy="459509"/>
          </a:xfrm>
          <a:prstGeom prst="round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>
            <a:lvl1pPr algn="ctr" eaLnBrk="0" hangingPunct="0">
              <a:lnSpc>
                <a:spcPct val="90000"/>
              </a:lnSpc>
              <a:defRPr sz="3600" b="1">
                <a:latin typeface="Calibri" pitchFamily="34" charset="0"/>
                <a:cs typeface="Arial" charset="0"/>
              </a:defRPr>
            </a:lvl1pPr>
            <a:lvl2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2pPr>
            <a:lvl3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3pPr>
            <a:lvl4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4pPr>
            <a:lvl5pPr algn="ctr" eaLnBrk="0" hangingPunct="0">
              <a:defRPr sz="4400">
                <a:solidFill>
                  <a:schemeClr val="tx2"/>
                </a:solidFill>
                <a:latin typeface="Arial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s-CO" sz="1600" dirty="0" smtClean="0">
                <a:solidFill>
                  <a:srgbClr val="632B00"/>
                </a:solidFill>
                <a:latin typeface="Futura Std Medium" pitchFamily="34" charset="0"/>
              </a:rPr>
              <a:t>NORMATIVA DE CALIDAD.</a:t>
            </a:r>
            <a:endParaRPr lang="es-CO" sz="1600" dirty="0">
              <a:solidFill>
                <a:srgbClr val="632B00"/>
              </a:solidFill>
              <a:latin typeface="Futura Std Medium" pitchFamily="34" charset="0"/>
            </a:endParaRPr>
          </a:p>
        </p:txBody>
      </p:sp>
      <p:pic>
        <p:nvPicPr>
          <p:cNvPr id="64" name="Picture 4" descr="C:\Users\emrojas\AppData\Local\Microsoft\Windows\Temporary Internet Files\Content.IE5\VGX1WBZ0\dglxasset[1]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881" y="4315705"/>
            <a:ext cx="2253905" cy="187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64 Conector recto"/>
          <p:cNvCxnSpPr/>
          <p:nvPr/>
        </p:nvCxnSpPr>
        <p:spPr>
          <a:xfrm>
            <a:off x="2091640" y="3132054"/>
            <a:ext cx="10838" cy="3994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65 Rectángulo"/>
          <p:cNvSpPr/>
          <p:nvPr/>
        </p:nvSpPr>
        <p:spPr>
          <a:xfrm>
            <a:off x="4945494" y="5463413"/>
            <a:ext cx="1963305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09600" indent="-609600">
              <a:lnSpc>
                <a:spcPct val="80000"/>
              </a:lnSpc>
              <a:defRPr/>
            </a:pPr>
            <a:r>
              <a:rPr lang="es-ES" sz="1200" dirty="0">
                <a:latin typeface="Futura Std Medium" pitchFamily="34" charset="0"/>
                <a:cs typeface="Calibri" pitchFamily="34" charset="0"/>
              </a:rPr>
              <a:t>Circular Consejo </a:t>
            </a:r>
            <a:r>
              <a:rPr lang="es-ES" sz="1200" dirty="0" smtClean="0">
                <a:latin typeface="Futura Std Medium" pitchFamily="34" charset="0"/>
                <a:cs typeface="Calibri" pitchFamily="34" charset="0"/>
              </a:rPr>
              <a:t> Asesor</a:t>
            </a:r>
            <a:endParaRPr lang="es-ES" sz="1200" dirty="0">
              <a:latin typeface="Futura Std Medium" pitchFamily="34" charset="0"/>
              <a:cs typeface="Calibri" pitchFamily="34" charset="0"/>
            </a:endParaRP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200" dirty="0">
                <a:latin typeface="Futura Std Medium" pitchFamily="34" charset="0"/>
                <a:cs typeface="Calibri" pitchFamily="34" charset="0"/>
              </a:rPr>
              <a:t>No. 100-002 </a:t>
            </a: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200" dirty="0">
                <a:latin typeface="Futura Std Medium" pitchFamily="34" charset="0"/>
                <a:cs typeface="Calibri" pitchFamily="34" charset="0"/>
              </a:rPr>
              <a:t>Equipos unificados</a:t>
            </a:r>
          </a:p>
        </p:txBody>
      </p:sp>
      <p:sp>
        <p:nvSpPr>
          <p:cNvPr id="67" name="Rectangle 54"/>
          <p:cNvSpPr>
            <a:spLocks noChangeArrowheads="1"/>
          </p:cNvSpPr>
          <p:nvPr/>
        </p:nvSpPr>
        <p:spPr bwMode="auto">
          <a:xfrm>
            <a:off x="6981060" y="4296767"/>
            <a:ext cx="1625599" cy="1893366"/>
          </a:xfrm>
          <a:prstGeom prst="rect">
            <a:avLst/>
          </a:prstGeom>
          <a:solidFill>
            <a:srgbClr val="3D404C"/>
          </a:solidFill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Actualización</a:t>
            </a: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Norma </a:t>
            </a: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Técnica</a:t>
            </a:r>
            <a:endParaRPr lang="es-ES" sz="1400" b="1" dirty="0">
              <a:solidFill>
                <a:schemeClr val="tx1"/>
              </a:solidFill>
              <a:latin typeface="Futura Std Medium" pitchFamily="34" charset="0"/>
              <a:cs typeface="Calibri" pitchFamily="34" charset="0"/>
            </a:endParaRP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NTCGP</a:t>
            </a: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1000:</a:t>
            </a:r>
          </a:p>
          <a:p>
            <a:pPr marL="609600" indent="-609600">
              <a:lnSpc>
                <a:spcPct val="80000"/>
              </a:lnSpc>
              <a:defRPr/>
            </a:pPr>
            <a:r>
              <a:rPr lang="es-ES" sz="1400" b="1" dirty="0" smtClean="0">
                <a:solidFill>
                  <a:schemeClr val="tx1"/>
                </a:solidFill>
                <a:latin typeface="Futura Std Medium" pitchFamily="34" charset="0"/>
                <a:cs typeface="Calibri" pitchFamily="34" charset="0"/>
              </a:rPr>
              <a:t>2009</a:t>
            </a:r>
            <a:endParaRPr lang="es-ES" sz="1400" b="1" dirty="0">
              <a:solidFill>
                <a:schemeClr val="tx1"/>
              </a:solidFill>
              <a:latin typeface="Futura Std Medium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280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2" grpId="0" animBg="1"/>
      <p:bldP spid="43" grpId="0" animBg="1"/>
      <p:bldP spid="57" grpId="0" animBg="1"/>
      <p:bldP spid="59" grpId="0" animBg="1"/>
      <p:bldP spid="61" grpId="0" animBg="1"/>
      <p:bldP spid="62" grpId="0" animBg="1"/>
      <p:bldP spid="66" grpId="0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9 CuadroTexto"/>
          <p:cNvSpPr txBox="1"/>
          <p:nvPr/>
        </p:nvSpPr>
        <p:spPr>
          <a:xfrm>
            <a:off x="5823626" y="0"/>
            <a:ext cx="2304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400" b="1" dirty="0" smtClean="0">
                <a:latin typeface="Eras Medium ITC" panose="020B0602030504020804" pitchFamily="34" charset="0"/>
              </a:rPr>
              <a:t>ESTRUCTURA</a:t>
            </a:r>
            <a:endParaRPr lang="es-CO" sz="2400" b="1" dirty="0">
              <a:latin typeface="Eras Medium ITC" panose="020B0602030504020804" pitchFamily="34" charset="0"/>
            </a:endParaRPr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32656"/>
            <a:ext cx="5616624" cy="5976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4 CuadroTexto"/>
          <p:cNvSpPr txBox="1"/>
          <p:nvPr/>
        </p:nvSpPr>
        <p:spPr>
          <a:xfrm>
            <a:off x="6154310" y="1549483"/>
            <a:ext cx="1648400" cy="36933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(3) Subsistemas</a:t>
            </a:r>
            <a:endParaRPr lang="es-CO" dirty="0"/>
          </a:p>
        </p:txBody>
      </p:sp>
      <p:sp>
        <p:nvSpPr>
          <p:cNvPr id="14" name="13 CuadroTexto"/>
          <p:cNvSpPr txBox="1"/>
          <p:nvPr/>
        </p:nvSpPr>
        <p:spPr>
          <a:xfrm>
            <a:off x="6306710" y="2071215"/>
            <a:ext cx="185839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(9) Componentes </a:t>
            </a:r>
            <a:endParaRPr lang="es-CO" dirty="0"/>
          </a:p>
        </p:txBody>
      </p:sp>
      <p:sp>
        <p:nvSpPr>
          <p:cNvPr id="19" name="18 CuadroTexto"/>
          <p:cNvSpPr txBox="1"/>
          <p:nvPr/>
        </p:nvSpPr>
        <p:spPr>
          <a:xfrm>
            <a:off x="6664554" y="2627620"/>
            <a:ext cx="165186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(29) Elementos 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772805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6 Imagen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2005" b="740"/>
          <a:stretch/>
        </p:blipFill>
        <p:spPr>
          <a:xfrm>
            <a:off x="5530769" y="2204864"/>
            <a:ext cx="3612799" cy="4396966"/>
          </a:xfrm>
          <a:prstGeom prst="rect">
            <a:avLst/>
          </a:prstGeom>
        </p:spPr>
      </p:pic>
      <p:grpSp>
        <p:nvGrpSpPr>
          <p:cNvPr id="3" name="2 Grupo"/>
          <p:cNvGrpSpPr/>
          <p:nvPr/>
        </p:nvGrpSpPr>
        <p:grpSpPr>
          <a:xfrm>
            <a:off x="0" y="-27383"/>
            <a:ext cx="9144000" cy="6890884"/>
            <a:chOff x="0" y="-27383"/>
            <a:chExt cx="9144000" cy="6890884"/>
          </a:xfrm>
        </p:grpSpPr>
        <p:pic>
          <p:nvPicPr>
            <p:cNvPr id="17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452" t="13983" r="7888" b="30943"/>
            <a:stretch/>
          </p:blipFill>
          <p:spPr bwMode="auto">
            <a:xfrm>
              <a:off x="8017957" y="418618"/>
              <a:ext cx="1112381" cy="474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11 CuadroTexto"/>
            <p:cNvSpPr txBox="1"/>
            <p:nvPr/>
          </p:nvSpPr>
          <p:spPr>
            <a:xfrm>
              <a:off x="5292080" y="6309503"/>
              <a:ext cx="3851920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 rot="10800000">
              <a:off x="0" y="-27383"/>
              <a:ext cx="9143568" cy="553998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22000"/>
                  </a:schemeClr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0" y="6309320"/>
              <a:ext cx="5292080" cy="553998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0000">
                  <a:schemeClr val="bg1">
                    <a:lumMod val="8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5400000" scaled="0"/>
              <a:tileRect/>
            </a:gradFill>
          </p:spPr>
          <p:txBody>
            <a:bodyPr wrap="square" rtlCol="0">
              <a:spAutoFit/>
            </a:bodyPr>
            <a:lstStyle/>
            <a:p>
              <a:pPr algn="ctr"/>
              <a:endParaRPr lang="es-CO" sz="1000" b="1" spc="600" dirty="0" smtClean="0">
                <a:solidFill>
                  <a:schemeClr val="accent2">
                    <a:lumMod val="75000"/>
                  </a:schemeClr>
                </a:solidFill>
                <a:latin typeface="Eras Medium ITC" panose="020B0602030504020804" pitchFamily="34" charset="0"/>
              </a:endParaRPr>
            </a:p>
            <a:p>
              <a:pPr algn="ctr"/>
              <a:r>
                <a:rPr lang="es-CO" sz="1000" b="1" spc="600" dirty="0" smtClean="0">
                  <a:solidFill>
                    <a:schemeClr val="accent2">
                      <a:lumMod val="75000"/>
                    </a:schemeClr>
                  </a:solidFill>
                  <a:latin typeface="Eras Medium ITC" panose="020B0602030504020804" pitchFamily="34" charset="0"/>
                </a:rPr>
                <a:t>ACTUALIZACIÓN </a:t>
              </a:r>
              <a:r>
                <a:rPr lang="es-CO" sz="1000" b="1" spc="600" dirty="0" err="1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MECI</a:t>
              </a:r>
              <a:r>
                <a:rPr lang="es-CO" sz="1000" b="1" spc="600" dirty="0" smtClean="0">
                  <a:solidFill>
                    <a:srgbClr val="00B050"/>
                  </a:solidFill>
                  <a:latin typeface="Eras Medium ITC" panose="020B0602030504020804" pitchFamily="34" charset="0"/>
                </a:rPr>
                <a:t> – CAS 2014</a:t>
              </a:r>
            </a:p>
            <a:p>
              <a:pPr algn="ctr"/>
              <a:endParaRPr lang="es-CO" sz="1000" b="1" spc="600" dirty="0">
                <a:latin typeface="Eras Medium ITC" panose="020B0602030504020804" pitchFamily="34" charset="0"/>
              </a:endParaRPr>
            </a:p>
          </p:txBody>
        </p:sp>
        <p:pic>
          <p:nvPicPr>
            <p:cNvPr id="18" name="Picture 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" r="65686"/>
            <a:stretch/>
          </p:blipFill>
          <p:spPr bwMode="auto">
            <a:xfrm>
              <a:off x="8128098" y="921811"/>
              <a:ext cx="892098" cy="1255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9 CuadroTexto"/>
          <p:cNvSpPr txBox="1"/>
          <p:nvPr/>
        </p:nvSpPr>
        <p:spPr>
          <a:xfrm>
            <a:off x="5823626" y="0"/>
            <a:ext cx="2304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400" b="1" dirty="0" smtClean="0">
                <a:latin typeface="Eras Medium ITC" panose="020B0602030504020804" pitchFamily="34" charset="0"/>
              </a:rPr>
              <a:t>ESTRUCTURA</a:t>
            </a:r>
            <a:endParaRPr lang="es-CO" sz="2400" b="1" dirty="0">
              <a:latin typeface="Eras Medium ITC" panose="020B0602030504020804" pitchFamily="34" charset="0"/>
            </a:endParaRPr>
          </a:p>
        </p:txBody>
      </p:sp>
      <p:sp>
        <p:nvSpPr>
          <p:cNvPr id="5" name="4 CuadroTexto"/>
          <p:cNvSpPr txBox="1"/>
          <p:nvPr/>
        </p:nvSpPr>
        <p:spPr>
          <a:xfrm>
            <a:off x="6057514" y="1628800"/>
            <a:ext cx="1322798" cy="36933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(2) Módulos</a:t>
            </a:r>
            <a:endParaRPr lang="es-CO" dirty="0"/>
          </a:p>
        </p:txBody>
      </p:sp>
      <p:sp>
        <p:nvSpPr>
          <p:cNvPr id="14" name="13 CuadroTexto"/>
          <p:cNvSpPr txBox="1"/>
          <p:nvPr/>
        </p:nvSpPr>
        <p:spPr>
          <a:xfrm>
            <a:off x="6228184" y="2060848"/>
            <a:ext cx="190148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(1) Eje transversal </a:t>
            </a:r>
            <a:endParaRPr lang="es-CO" dirty="0"/>
          </a:p>
        </p:txBody>
      </p:sp>
      <p:sp>
        <p:nvSpPr>
          <p:cNvPr id="19" name="18 CuadroTexto"/>
          <p:cNvSpPr txBox="1"/>
          <p:nvPr/>
        </p:nvSpPr>
        <p:spPr>
          <a:xfrm>
            <a:off x="6516216" y="2564904"/>
            <a:ext cx="183082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(6) componentes </a:t>
            </a:r>
            <a:endParaRPr lang="es-CO" dirty="0"/>
          </a:p>
        </p:txBody>
      </p:sp>
      <p:pic>
        <p:nvPicPr>
          <p:cNvPr id="16385" name="Picture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816" y="188640"/>
            <a:ext cx="5836344" cy="60008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" name="19 CuadroTexto"/>
          <p:cNvSpPr txBox="1"/>
          <p:nvPr/>
        </p:nvSpPr>
        <p:spPr>
          <a:xfrm>
            <a:off x="6876256" y="3059668"/>
            <a:ext cx="1651862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CO" dirty="0" smtClean="0"/>
              <a:t>(13) Elementos 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71177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</TotalTime>
  <Words>171</Words>
  <Application>Microsoft Office PowerPoint</Application>
  <PresentationFormat>Presentación en pantalla (4:3)</PresentationFormat>
  <Paragraphs>102</Paragraphs>
  <Slides>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6" baseType="lpstr"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NHORA SANDOVAL</dc:creator>
  <cp:lastModifiedBy>SuperUs</cp:lastModifiedBy>
  <cp:revision>21</cp:revision>
  <dcterms:created xsi:type="dcterms:W3CDTF">2014-11-18T19:02:06Z</dcterms:created>
  <dcterms:modified xsi:type="dcterms:W3CDTF">2014-11-24T05:36:38Z</dcterms:modified>
</cp:coreProperties>
</file>