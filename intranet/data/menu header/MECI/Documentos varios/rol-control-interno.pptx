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2" r:id="rId2"/>
    <p:sldId id="263" r:id="rId3"/>
    <p:sldId id="264" r:id="rId4"/>
    <p:sldId id="265" r:id="rId5"/>
    <p:sldId id="270" r:id="rId6"/>
    <p:sldId id="271" r:id="rId7"/>
    <p:sldId id="272" r:id="rId8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797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072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9731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344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7788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6360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506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2412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6101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2489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4948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EADE9B-7DF1-403D-9219-F658FADC1755}" type="datetimeFigureOut">
              <a:rPr lang="es-ES" smtClean="0"/>
              <a:t>23/11/2014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1890CF-FC80-4376-944D-A89FF533987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3482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10 Grupo"/>
          <p:cNvGrpSpPr/>
          <p:nvPr/>
        </p:nvGrpSpPr>
        <p:grpSpPr>
          <a:xfrm>
            <a:off x="0" y="-27383"/>
            <a:ext cx="9144000" cy="6890701"/>
            <a:chOff x="0" y="-27383"/>
            <a:chExt cx="9144000" cy="6890701"/>
          </a:xfrm>
        </p:grpSpPr>
        <p:pic>
          <p:nvPicPr>
            <p:cNvPr id="12" name="Picture 4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12 CuadroTexto"/>
            <p:cNvSpPr txBox="1"/>
            <p:nvPr/>
          </p:nvSpPr>
          <p:spPr>
            <a:xfrm>
              <a:off x="0" y="6309320"/>
              <a:ext cx="914400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4" name="Picture 4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242234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" name="15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7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1" t="6318" r="543" b="6768"/>
            <a:stretch/>
          </p:blipFill>
          <p:spPr bwMode="auto">
            <a:xfrm>
              <a:off x="0" y="2204864"/>
              <a:ext cx="9144000" cy="37031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17 Rectángulo"/>
            <p:cNvSpPr/>
            <p:nvPr/>
          </p:nvSpPr>
          <p:spPr>
            <a:xfrm>
              <a:off x="0" y="2204864"/>
              <a:ext cx="9134332" cy="3703170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10" name="9 CuadroTexto"/>
          <p:cNvSpPr txBox="1"/>
          <p:nvPr/>
        </p:nvSpPr>
        <p:spPr>
          <a:xfrm>
            <a:off x="892060" y="548680"/>
            <a:ext cx="735234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3600" b="1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rPr>
              <a:t>Seminario</a:t>
            </a:r>
          </a:p>
          <a:p>
            <a:pPr algn="ctr"/>
            <a:r>
              <a:rPr lang="es-CO" sz="3600" b="1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rPr>
              <a:t>Actualización </a:t>
            </a:r>
            <a:r>
              <a:rPr lang="es-CO" sz="3600" b="1" dirty="0" err="1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Medium ITC" panose="020B0602030504020804" pitchFamily="34" charset="0"/>
              </a:rPr>
              <a:t>MECI</a:t>
            </a:r>
            <a:r>
              <a:rPr lang="es-CO" sz="3600" b="1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Medium ITC" panose="020B0602030504020804" pitchFamily="34" charset="0"/>
              </a:rPr>
              <a:t> - CAS 2014</a:t>
            </a:r>
          </a:p>
          <a:p>
            <a:pPr algn="ctr"/>
            <a:endParaRPr lang="es-CO" sz="3600" b="1" dirty="0" smtClean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ras Medium ITC" panose="020B0602030504020804" pitchFamily="34" charset="0"/>
            </a:endParaRPr>
          </a:p>
          <a:p>
            <a:pPr algn="ctr"/>
            <a:endParaRPr lang="es-CO" sz="4000" b="1" dirty="0" smtClean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ras Medium ITC" panose="020B0602030504020804" pitchFamily="34" charset="0"/>
            </a:endParaRPr>
          </a:p>
          <a:p>
            <a:pPr algn="ctr"/>
            <a:r>
              <a:rPr lang="es-ES" sz="4000" b="1" dirty="0" smtClean="0"/>
              <a:t>ROL DE LAS OFICINAS DE CONTROL INTERNO, AUDITORÍA INTERNA O QUIEN HAGA SUS VECES</a:t>
            </a:r>
            <a:endParaRPr lang="es-CO" b="1" dirty="0" smtClean="0">
              <a:latin typeface="Eras Medium ITC" panose="020B0602030504020804" pitchFamily="34" charset="0"/>
            </a:endParaRPr>
          </a:p>
          <a:p>
            <a:pPr algn="ctr"/>
            <a:endParaRPr lang="es-CO" dirty="0" smtClean="0">
              <a:latin typeface="Eras Medium ITC" panose="020B0602030504020804" pitchFamily="34" charset="0"/>
            </a:endParaRPr>
          </a:p>
          <a:p>
            <a:pPr algn="ctr"/>
            <a:r>
              <a:rPr lang="es-CO" sz="1600" dirty="0" smtClean="0">
                <a:latin typeface="Eras Medium ITC" panose="020B0602030504020804" pitchFamily="34" charset="0"/>
              </a:rPr>
              <a:t>NOVIEMBRE 24 , 2014</a:t>
            </a:r>
            <a:endParaRPr lang="es-CO" sz="1600" dirty="0">
              <a:latin typeface="Eras Medium ITC" panose="020B06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28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0" name="19 CuadroTexto"/>
          <p:cNvSpPr txBox="1"/>
          <p:nvPr/>
        </p:nvSpPr>
        <p:spPr>
          <a:xfrm>
            <a:off x="395536" y="260648"/>
            <a:ext cx="76224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El Sistema de Control Interno tiene como propósito fundamental lograr la eficacia, eficiencia y transparencia en el ejercicio de las funciones de las entidades que conforman el estado Colombiano y cualificar a los servidores públicos desarrollando sus competencias con el fin de acercarse al ciudadano y cumplir con los fines constitucionales para los que fueron creados.</a:t>
            </a:r>
            <a:endParaRPr lang="es-E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6" descr="http://www.monografias.com/trabajos96/nuevo-marco-control-interno-integrado-coso-2013/img6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2435696"/>
            <a:ext cx="6555097" cy="4017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0933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" name="10 CuadroTexto"/>
          <p:cNvSpPr txBox="1"/>
          <p:nvPr/>
        </p:nvSpPr>
        <p:spPr>
          <a:xfrm>
            <a:off x="66850" y="260648"/>
            <a:ext cx="795110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En este sentido, el MECI se convierte </a:t>
            </a:r>
            <a:r>
              <a:rPr lang="es-ES" sz="2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en un instrumento </a:t>
            </a: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que </a:t>
            </a:r>
            <a:r>
              <a:rPr lang="es-ES" sz="2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contribuye a asegurar</a:t>
            </a: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 que la gestión administrativa  de las entidades y organismos del Estado </a:t>
            </a:r>
            <a:r>
              <a:rPr lang="es-ES" sz="2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logren el cumplimiento de la misión y de los objetivos propuestos con eficiencia y eficacia </a:t>
            </a: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dando así cumplimiento a la normatividad y políticas del Estado.</a:t>
            </a:r>
          </a:p>
          <a:p>
            <a:pPr algn="just"/>
            <a:endParaRPr lang="es-ES" sz="2000" b="1" dirty="0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En este contexto la Oficina de Control Interno, como responsable del Componente de Evaluación Independiente, y como asesor , evaluador, integrador y dinamizador del Sistema de Control Interno con miras a mejorar la cultura organizacional y, por ende, a contribuir con la productividad del Estado. </a:t>
            </a:r>
            <a:endParaRPr lang="es-E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3" name="Picture 4" descr="http://blogs.unir.net/images/blogs/comunicacion/files/2014/01/politica-de-transparencia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3933056"/>
            <a:ext cx="4759654" cy="244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2780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9" name="8 CuadroTexto"/>
          <p:cNvSpPr txBox="1"/>
          <p:nvPr/>
        </p:nvSpPr>
        <p:spPr>
          <a:xfrm>
            <a:off x="395536" y="404664"/>
            <a:ext cx="80648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b="1" dirty="0" smtClean="0">
                <a:latin typeface="Arial" pitchFamily="34" charset="0"/>
                <a:cs typeface="Arial" pitchFamily="34" charset="0"/>
              </a:rPr>
              <a:t>MECI resalta la función de la Oficina de Control Interno, de asesoría y evaluación dentro de un </a:t>
            </a: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proceso </a:t>
            </a: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retroalimentador y de mejoramiento continuo para la  gerencia pública y la lucha contra la corrupción; en tal sentido esta labor debe ser realizada de manera permanente y oportuna, por cuanto el éxito de la Alta Dirección radica en tomar decisiones asertivas y en el tiempo indicado.</a:t>
            </a:r>
            <a:endParaRPr lang="es-ES" sz="2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9 CuadroTexto"/>
          <p:cNvSpPr txBox="1"/>
          <p:nvPr/>
        </p:nvSpPr>
        <p:spPr>
          <a:xfrm>
            <a:off x="395536" y="3158966"/>
            <a:ext cx="82089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smtClean="0">
                <a:latin typeface="Arial" pitchFamily="34" charset="0"/>
                <a:cs typeface="Arial" pitchFamily="34" charset="0"/>
              </a:rPr>
              <a:t>Para el desarrollo de las funciones esenciales de la Oficina de Control Interno  se debe:</a:t>
            </a:r>
          </a:p>
          <a:p>
            <a:pPr algn="ctr"/>
            <a:endParaRPr lang="es-ES" sz="20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Definir una plataforma estratégica (Misión, Visión y Objetivos en ámbito de competencia y concordancia con los de la entidad).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Ejecución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Comunicación de Resultados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Elaboración de Informes</a:t>
            </a:r>
          </a:p>
        </p:txBody>
      </p:sp>
    </p:spTree>
    <p:extLst>
      <p:ext uri="{BB962C8B-B14F-4D97-AF65-F5344CB8AC3E}">
        <p14:creationId xmlns:p14="http://schemas.microsoft.com/office/powerpoint/2010/main" val="366355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9" name="1 Título"/>
          <p:cNvSpPr txBox="1">
            <a:spLocks/>
          </p:cNvSpPr>
          <p:nvPr/>
        </p:nvSpPr>
        <p:spPr>
          <a:xfrm>
            <a:off x="25152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smtClean="0"/>
              <a:t>ROLES FRENTE A LA ADMINISTRACIÓN DEL RIESGO</a:t>
            </a:r>
            <a:endParaRPr lang="es-ES" sz="3200" b="1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14" t="12303" r="14509" b="12896"/>
          <a:stretch/>
        </p:blipFill>
        <p:spPr bwMode="auto">
          <a:xfrm>
            <a:off x="251520" y="1556792"/>
            <a:ext cx="8576535" cy="49678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6355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" name="1 Título"/>
          <p:cNvSpPr txBox="1">
            <a:spLocks/>
          </p:cNvSpPr>
          <p:nvPr/>
        </p:nvSpPr>
        <p:spPr>
          <a:xfrm>
            <a:off x="179512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smtClean="0"/>
              <a:t>ROLES FRENTE A LA ADMINISTRACIÓN DEL RIESGO</a:t>
            </a:r>
            <a:endParaRPr lang="es-ES" sz="3200" dirty="0"/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14" t="12303" r="14509" b="12896"/>
          <a:stretch/>
        </p:blipFill>
        <p:spPr bwMode="auto">
          <a:xfrm>
            <a:off x="251520" y="1556792"/>
            <a:ext cx="8576535" cy="49678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24503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54" t="14683" r="27174" b="10984"/>
          <a:stretch/>
        </p:blipFill>
        <p:spPr bwMode="auto">
          <a:xfrm>
            <a:off x="107504" y="656054"/>
            <a:ext cx="7110536" cy="55092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9 CuadroTexto"/>
          <p:cNvSpPr txBox="1"/>
          <p:nvPr/>
        </p:nvSpPr>
        <p:spPr>
          <a:xfrm>
            <a:off x="251520" y="188640"/>
            <a:ext cx="73653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latin typeface="Arial" pitchFamily="34" charset="0"/>
                <a:cs typeface="Arial" pitchFamily="34" charset="0"/>
              </a:rPr>
              <a:t>ENFOQUE DE AUDITORÍA SEGÚN LA MADUREZ DE LA AR</a:t>
            </a:r>
            <a:endParaRPr lang="es-ES" sz="2000" b="1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14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</TotalTime>
  <Words>357</Words>
  <Application>Microsoft Office PowerPoint</Application>
  <PresentationFormat>Presentación en pantalla (4:3)</PresentationFormat>
  <Paragraphs>48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8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Roll de las Oficinas de Control Interno, auditoría Interna o quien haga sus veces</dc:title>
  <dc:creator>ASUS</dc:creator>
  <cp:lastModifiedBy>SuperUs</cp:lastModifiedBy>
  <cp:revision>17</cp:revision>
  <dcterms:created xsi:type="dcterms:W3CDTF">2014-07-24T10:43:14Z</dcterms:created>
  <dcterms:modified xsi:type="dcterms:W3CDTF">2014-11-24T04:59:21Z</dcterms:modified>
</cp:coreProperties>
</file>